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7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media/image9.png" ContentType="image/png"/>
  <Override PartName="/ppt/media/image1.png" ContentType="image/png"/>
  <Override PartName="/ppt/media/image2.png" ContentType="image/png"/>
  <Override PartName="/ppt/media/image5.png" ContentType="image/png"/>
  <Override PartName="/ppt/media/image3.jpeg" ContentType="image/jpeg"/>
  <Override PartName="/ppt/media/image4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4630400" cy="8229600"/>
  <p:notesSz cx="8229600" cy="14630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GB" sz="2000" spc="-1" strike="noStrike">
                <a:latin typeface="Arial"/>
              </a:rPr>
              <a:t>Click to edit the notes format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GB" sz="1400" spc="-1" strike="noStrike">
                <a:latin typeface="Times New Roman"/>
              </a:rPr>
              <a:t> 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GB" sz="1400" spc="-1" strike="noStrike">
                <a:latin typeface="Times New Roman"/>
              </a:rPr>
              <a:t> 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GB" sz="1400" spc="-1" strike="noStrike">
                <a:latin typeface="Times New Roman"/>
              </a:rPr>
              <a:t> 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9C2D187E-05FD-44BB-B5EB-DF24814B38AA}" type="slidenum">
              <a:rPr b="0" lang="en-GB" sz="1400" spc="-1" strike="noStrike">
                <a:latin typeface="Times New Roman"/>
              </a:rPr>
              <a:t>1</a:t>
            </a:fld>
            <a:endParaRPr b="0" lang="en-GB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80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FD0DBBB5-F528-4B2E-A488-FDBEE66E8F6E}" type="slidenum">
              <a:rPr b="0" lang="en-GB" sz="18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en-GB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83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49C8B14C-BB3D-4E60-86F3-E421837BCE90}" type="slidenum">
              <a:rPr b="0" lang="en-GB" sz="18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en-GB" sz="18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86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BA36D459-417B-449C-9A0B-5BD358A5ED60}" type="slidenum">
              <a:rPr b="0" lang="en-GB" sz="18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en-GB" sz="18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89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1FE1C5FD-546B-49D4-B933-C5C75FE4F771}" type="slidenum">
              <a:rPr b="0" lang="en-GB" sz="18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en-GB" sz="18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92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0A60FABD-85E8-4071-9B88-BAC360BFB882}" type="slidenum">
              <a:rPr b="0" lang="en-GB" sz="18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en-GB" sz="18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95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5F91F6B4-7EA1-423D-B6D5-EAABC3F204A3}" type="slidenum">
              <a:rPr b="0" lang="en-GB" sz="18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en-GB" sz="18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98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B10CF0D2-1DA1-44CD-BD43-BAAD466790B0}" type="slidenum">
              <a:rPr b="0" lang="en-GB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GB" sz="18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201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DA85BDA7-3E01-4939-94AB-752BC61FA0EE}" type="slidenum">
              <a:rPr b="0" lang="en-GB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GB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https://www.ijert.org/implementation-of-iot-based-real-time-womens-safety-system-3" TargetMode="External"/><Relationship Id="rId2" Type="http://schemas.openxmlformats.org/officeDocument/2006/relationships/hyperlink" Target="https://www.mdpi.com/2079-9292/10/7/850" TargetMode="External"/><Relationship Id="rId3" Type="http://schemas.openxmlformats.org/officeDocument/2006/relationships/hyperlink" Target="https://www.mdpi.com/2227-9709/7/3/23" TargetMode="External"/><Relationship Id="rId4" Type="http://schemas.openxmlformats.org/officeDocument/2006/relationships/hyperlink" Target="https://www.researchgate.net/publication/326212440_Urban_noise_recognition_with_convolutional_neural_network" TargetMode="External"/><Relationship Id="rId5" Type="http://schemas.openxmlformats.org/officeDocument/2006/relationships/hyperlink" Target="https://www.researchgate.net/publication/353073417_Sentiment_analysis_in_non-fixed_length_audios_using_a_Fully_Convolutional_Neural_Network" TargetMode="External"/><Relationship Id="rId6" Type="http://schemas.openxmlformats.org/officeDocument/2006/relationships/hyperlink" Target="https://www.sciencedirect.com/science/article/pii/S2352146522001648" TargetMode="External"/><Relationship Id="rId7" Type="http://schemas.openxmlformats.org/officeDocument/2006/relationships/hyperlink" Target="https://www.researchgate.net/publication/351429605_Sound_Classification_Based_on_Multihead_Attention_and_Support_Vector_Machine" TargetMode="External"/><Relationship Id="rId8" Type="http://schemas.openxmlformats.org/officeDocument/2006/relationships/hyperlink" Target="https://www.sciencedirect.com/science/article/abs/pii/S1568494623004416" TargetMode="External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CustomShape 2"/>
          <p:cNvSpPr/>
          <p:nvPr/>
        </p:nvSpPr>
        <p:spPr>
          <a:xfrm>
            <a:off x="32400" y="0"/>
            <a:ext cx="14630040" cy="822924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CustomShape 3"/>
          <p:cNvSpPr/>
          <p:nvPr/>
        </p:nvSpPr>
        <p:spPr>
          <a:xfrm>
            <a:off x="6396120" y="1147680"/>
            <a:ext cx="8201520" cy="3292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-GB" sz="5000" spc="-1" strike="noStrike">
                <a:solidFill>
                  <a:srgbClr val="1f1e1e"/>
                </a:solidFill>
                <a:latin typeface="Alexandria"/>
                <a:ea typeface="Alexandria"/>
              </a:rPr>
              <a:t>LIVE EVENT DETECTION  FOR PUBLIC SAFETY</a:t>
            </a:r>
            <a:endParaRPr b="0" lang="en-GB" sz="5000" spc="-1" strike="noStrike">
              <a:latin typeface="Arial"/>
            </a:endParaRPr>
          </a:p>
        </p:txBody>
      </p:sp>
      <p:sp>
        <p:nvSpPr>
          <p:cNvPr id="47" name="CustomShape 4"/>
          <p:cNvSpPr/>
          <p:nvPr/>
        </p:nvSpPr>
        <p:spPr>
          <a:xfrm>
            <a:off x="6350400" y="4916520"/>
            <a:ext cx="7415640" cy="2888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r">
              <a:lnSpc>
                <a:spcPts val="311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GUIDE : </a:t>
            </a: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Dr. Blessy Queen Mary  M</a:t>
            </a:r>
            <a:endParaRPr b="0" lang="en-GB" sz="2000" spc="-1" strike="noStrike">
              <a:latin typeface="Arial"/>
            </a:endParaRPr>
          </a:p>
          <a:p>
            <a:pPr algn="r">
              <a:lnSpc>
                <a:spcPts val="3110"/>
              </a:lnSpc>
            </a:pPr>
            <a:endParaRPr b="0" lang="en-GB" sz="2000" spc="-1" strike="noStrike">
              <a:latin typeface="Arial"/>
            </a:endParaRPr>
          </a:p>
          <a:p>
            <a:pPr algn="r">
              <a:lnSpc>
                <a:spcPts val="3110"/>
              </a:lnSpc>
            </a:pPr>
            <a:r>
              <a:rPr b="1" lang="en-GB" sz="2000" spc="-1" strike="noStrike">
                <a:solidFill>
                  <a:srgbClr val="000000"/>
                </a:solidFill>
                <a:latin typeface="Calibri"/>
              </a:rPr>
              <a:t>TEAM MEMBERS : </a:t>
            </a:r>
            <a:endParaRPr b="0" lang="en-GB" sz="2000" spc="-1" strike="noStrike">
              <a:latin typeface="Arial"/>
            </a:endParaRPr>
          </a:p>
          <a:p>
            <a:pPr algn="r">
              <a:lnSpc>
                <a:spcPts val="3110"/>
              </a:lnSpc>
            </a:pPr>
            <a:r>
              <a:rPr b="0" lang="en-GB" sz="1950" spc="-1" strike="noStrike">
                <a:solidFill>
                  <a:srgbClr val="000000"/>
                </a:solidFill>
                <a:latin typeface="Calibri"/>
              </a:rPr>
              <a:t>Guruswathi B – 71772118111</a:t>
            </a:r>
            <a:endParaRPr b="0" lang="en-GB" sz="1950" spc="-1" strike="noStrike">
              <a:latin typeface="Arial"/>
            </a:endParaRPr>
          </a:p>
          <a:p>
            <a:pPr algn="r">
              <a:lnSpc>
                <a:spcPts val="3110"/>
              </a:lnSpc>
            </a:pPr>
            <a:r>
              <a:rPr b="0" lang="en-GB" sz="1950" spc="-1" strike="noStrike">
                <a:solidFill>
                  <a:srgbClr val="000000"/>
                </a:solidFill>
                <a:latin typeface="Calibri"/>
              </a:rPr>
              <a:t>Muthumaha S – 71772118129</a:t>
            </a:r>
            <a:endParaRPr b="0" lang="en-GB" sz="1950" spc="-1" strike="noStrike">
              <a:latin typeface="Arial"/>
            </a:endParaRPr>
          </a:p>
          <a:p>
            <a:pPr algn="r">
              <a:lnSpc>
                <a:spcPts val="3110"/>
              </a:lnSpc>
            </a:pPr>
            <a:r>
              <a:rPr b="0" lang="en-GB" sz="1950" spc="-1" strike="noStrike">
                <a:solidFill>
                  <a:srgbClr val="000000"/>
                </a:solidFill>
                <a:latin typeface="Calibri"/>
              </a:rPr>
              <a:t>Shunmuga Priya R – 71772118140</a:t>
            </a:r>
            <a:endParaRPr b="0" lang="en-GB" sz="1950" spc="-1" strike="noStrike">
              <a:latin typeface="Arial"/>
            </a:endParaRPr>
          </a:p>
          <a:p>
            <a:pPr algn="r">
              <a:lnSpc>
                <a:spcPts val="3110"/>
              </a:lnSpc>
            </a:pPr>
            <a:r>
              <a:rPr b="0" lang="en-GB" sz="1950" spc="-1" strike="noStrike">
                <a:solidFill>
                  <a:srgbClr val="000000"/>
                </a:solidFill>
                <a:latin typeface="Calibri"/>
              </a:rPr>
              <a:t>Tamil Selvi A - 71772118149</a:t>
            </a:r>
            <a:endParaRPr b="0" lang="en-GB" sz="1950" spc="-1" strike="noStrike">
              <a:latin typeface="Arial"/>
            </a:endParaRPr>
          </a:p>
        </p:txBody>
      </p:sp>
      <p:sp>
        <p:nvSpPr>
          <p:cNvPr id="48" name="CustomShape 5"/>
          <p:cNvSpPr/>
          <p:nvPr/>
        </p:nvSpPr>
        <p:spPr>
          <a:xfrm>
            <a:off x="6350400" y="7107480"/>
            <a:ext cx="394560" cy="394560"/>
          </a:xfrm>
          <a:prstGeom prst="roundRect">
            <a:avLst>
              <a:gd name="adj" fmla="val 23151155"/>
            </a:avLst>
          </a:prstGeom>
          <a:noFill/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CustomShape 6"/>
          <p:cNvSpPr/>
          <p:nvPr/>
        </p:nvSpPr>
        <p:spPr>
          <a:xfrm>
            <a:off x="6868800" y="7088760"/>
            <a:ext cx="1780920" cy="43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noAutofit/>
          </a:bodyPr>
          <a:p>
            <a:pPr>
              <a:lnSpc>
                <a:spcPts val="3402"/>
              </a:lnSpc>
            </a:pPr>
            <a:r>
              <a:rPr b="1" lang="en-GB" sz="2429" spc="-1" strike="noStrike">
                <a:solidFill>
                  <a:srgbClr val="3b3535"/>
                </a:solidFill>
                <a:latin typeface="Sora"/>
                <a:ea typeface="Sora"/>
              </a:rPr>
              <a:t> </a:t>
            </a:r>
            <a:endParaRPr b="0" lang="en-GB" sz="2429" spc="-1" strike="noStrike">
              <a:latin typeface="Arial"/>
            </a:endParaRPr>
          </a:p>
        </p:txBody>
      </p:sp>
      <p:pic>
        <p:nvPicPr>
          <p:cNvPr id="50" name="Image 1" descr=""/>
          <p:cNvPicPr/>
          <p:nvPr/>
        </p:nvPicPr>
        <p:blipFill>
          <a:blip r:embed="rId1"/>
          <a:stretch/>
        </p:blipFill>
        <p:spPr>
          <a:xfrm>
            <a:off x="-32400" y="0"/>
            <a:ext cx="5486040" cy="8229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 0" descr=""/>
          <p:cNvPicPr/>
          <p:nvPr/>
        </p:nvPicPr>
        <p:blipFill>
          <a:blip r:embed="rId1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>
            <a:noFill/>
          </a:ln>
        </p:spPr>
      </p:pic>
      <p:sp>
        <p:nvSpPr>
          <p:cNvPr id="52" name="CustomShape 1"/>
          <p:cNvSpPr/>
          <p:nvPr/>
        </p:nvSpPr>
        <p:spPr>
          <a:xfrm>
            <a:off x="0" y="0"/>
            <a:ext cx="14630040" cy="8114760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CustomShape 2"/>
          <p:cNvSpPr/>
          <p:nvPr/>
        </p:nvSpPr>
        <p:spPr>
          <a:xfrm>
            <a:off x="793800" y="1124640"/>
            <a:ext cx="6063840" cy="72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noAutofit/>
          </a:bodyPr>
          <a:p>
            <a:pPr>
              <a:lnSpc>
                <a:spcPts val="5581"/>
              </a:lnSpc>
            </a:pPr>
            <a:r>
              <a:rPr b="1" lang="en-GB" sz="4470" spc="-1" strike="noStrike">
                <a:solidFill>
                  <a:srgbClr val="505468"/>
                </a:solidFill>
                <a:latin typeface="Instrument Sans"/>
                <a:ea typeface="Instrument Sans"/>
              </a:rPr>
              <a:t>    </a:t>
            </a:r>
            <a:r>
              <a:rPr b="1" lang="en-GB" sz="4470" spc="-1" strike="noStrike">
                <a:solidFill>
                  <a:srgbClr val="505468"/>
                </a:solidFill>
                <a:latin typeface="Instrument Sans"/>
                <a:ea typeface="Instrument Sans"/>
              </a:rPr>
              <a:t>PROBLEM STATEMENT</a:t>
            </a:r>
            <a:endParaRPr b="0" lang="en-GB" sz="4470" spc="-1" strike="noStrike">
              <a:latin typeface="Arial"/>
            </a:endParaRPr>
          </a:p>
        </p:txBody>
      </p:sp>
      <p:sp>
        <p:nvSpPr>
          <p:cNvPr id="54" name="CustomShape 3"/>
          <p:cNvSpPr/>
          <p:nvPr/>
        </p:nvSpPr>
        <p:spPr>
          <a:xfrm>
            <a:off x="1285200" y="2380320"/>
            <a:ext cx="190800" cy="420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CustomShape 4"/>
          <p:cNvSpPr/>
          <p:nvPr/>
        </p:nvSpPr>
        <p:spPr>
          <a:xfrm>
            <a:off x="1531080" y="2380320"/>
            <a:ext cx="11441880" cy="512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Instrument Sans"/>
                <a:ea typeface="Instrument Sans"/>
              </a:rPr>
              <a:t>Threat to Society :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400" spc="-1" strike="noStrike">
                <a:solidFill>
                  <a:srgbClr val="000000"/>
                </a:solidFill>
                <a:latin typeface="Sora"/>
                <a:ea typeface="Instrument Sans"/>
              </a:rPr>
              <a:t>Humans pose a significant threat to society through criminal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400" spc="-1" strike="noStrike">
                <a:solidFill>
                  <a:srgbClr val="000000"/>
                </a:solidFill>
                <a:latin typeface="Sora"/>
                <a:ea typeface="Instrument Sans"/>
              </a:rPr>
              <a:t>activities such as robbery, assault, and homicide. These situations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400" spc="-1" strike="noStrike">
                <a:solidFill>
                  <a:srgbClr val="000000"/>
                </a:solidFill>
                <a:latin typeface="Sora"/>
                <a:ea typeface="Instrument Sans"/>
              </a:rPr>
              <a:t>are particularly dangerous for individuals working alone at night in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400" spc="-1" strike="noStrike">
                <a:solidFill>
                  <a:srgbClr val="000000"/>
                </a:solidFill>
                <a:latin typeface="Sora"/>
                <a:ea typeface="Instrument Sans"/>
              </a:rPr>
              <a:t>remote areas, especially women</a:t>
            </a:r>
            <a:r>
              <a:rPr b="0" lang="en-GB" sz="2400" spc="-1" strike="noStrike">
                <a:solidFill>
                  <a:srgbClr val="000000"/>
                </a:solidFill>
                <a:latin typeface="Instrument Sans"/>
                <a:ea typeface="Instrument Sans"/>
              </a:rPr>
              <a:t>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Instrument Sans"/>
                <a:ea typeface="Instrument Sans"/>
              </a:rPr>
              <a:t>Lack of Effective Solutions :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400" spc="-1" strike="noStrike">
                <a:solidFill>
                  <a:srgbClr val="000000"/>
                </a:solidFill>
                <a:latin typeface="Sora"/>
                <a:ea typeface="Instrument Sans"/>
              </a:rPr>
              <a:t>Existing safety measures often lack accuracy and suffer from delays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400" spc="-1" strike="noStrike">
                <a:solidFill>
                  <a:srgbClr val="000000"/>
                </a:solidFill>
                <a:latin typeface="Sora"/>
                <a:ea typeface="Instrument Sans"/>
              </a:rPr>
              <a:t>in threat prediction, making them inefficient in preventing or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400" spc="-1" strike="noStrike">
                <a:solidFill>
                  <a:srgbClr val="000000"/>
                </a:solidFill>
                <a:latin typeface="Sora"/>
                <a:ea typeface="Instrument Sans"/>
              </a:rPr>
              <a:t>mitigating these dangers.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56" name="CustomShape 5"/>
          <p:cNvSpPr/>
          <p:nvPr/>
        </p:nvSpPr>
        <p:spPr>
          <a:xfrm>
            <a:off x="1531080" y="2989800"/>
            <a:ext cx="13098960" cy="3983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CustomShape 6"/>
          <p:cNvSpPr/>
          <p:nvPr/>
        </p:nvSpPr>
        <p:spPr>
          <a:xfrm>
            <a:off x="1285200" y="4528440"/>
            <a:ext cx="18936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CustomShape 7"/>
          <p:cNvSpPr/>
          <p:nvPr/>
        </p:nvSpPr>
        <p:spPr>
          <a:xfrm>
            <a:off x="1531080" y="4528440"/>
            <a:ext cx="10279080" cy="85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CustomShape 8"/>
          <p:cNvSpPr/>
          <p:nvPr/>
        </p:nvSpPr>
        <p:spPr>
          <a:xfrm>
            <a:off x="1531080" y="5196240"/>
            <a:ext cx="12305520" cy="2140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ustom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CustomShape 2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CustomShape 3"/>
          <p:cNvSpPr/>
          <p:nvPr/>
        </p:nvSpPr>
        <p:spPr>
          <a:xfrm>
            <a:off x="604800" y="656640"/>
            <a:ext cx="7934040" cy="87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4476"/>
              </a:lnSpc>
            </a:pPr>
            <a:r>
              <a:rPr b="1" lang="en-GB" sz="4400" spc="-1" strike="noStrike">
                <a:solidFill>
                  <a:srgbClr val="1f1e1e"/>
                </a:solidFill>
                <a:latin typeface="Alexandria"/>
                <a:ea typeface="Alexandria"/>
              </a:rPr>
              <a:t>OBJECTIVE :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63" name="CustomShape 4"/>
          <p:cNvSpPr/>
          <p:nvPr/>
        </p:nvSpPr>
        <p:spPr>
          <a:xfrm>
            <a:off x="604800" y="3105000"/>
            <a:ext cx="14025240" cy="495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457200" indent="-456840">
              <a:lnSpc>
                <a:spcPts val="2177"/>
              </a:lnSpc>
              <a:buClr>
                <a:srgbClr val="3b3535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3b3535"/>
                </a:solidFill>
                <a:latin typeface="Sora"/>
                <a:ea typeface="Sora"/>
              </a:rPr>
              <a:t>Develop a software-based threat detection system using audio signals. </a:t>
            </a:r>
            <a:endParaRPr b="0" lang="en-GB" sz="28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8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800" spc="-1" strike="noStrike">
              <a:latin typeface="Arial"/>
            </a:endParaRPr>
          </a:p>
          <a:p>
            <a:pPr marL="457200" indent="-456840">
              <a:lnSpc>
                <a:spcPts val="2177"/>
              </a:lnSpc>
              <a:buClr>
                <a:srgbClr val="3b3535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3b3535"/>
                </a:solidFill>
                <a:latin typeface="Sora"/>
                <a:ea typeface="Sora"/>
              </a:rPr>
              <a:t>Achieve a minimum accuracy of 94% in threat detection and classification. </a:t>
            </a:r>
            <a:endParaRPr b="0" lang="en-GB" sz="28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8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800" spc="-1" strike="noStrike">
              <a:latin typeface="Arial"/>
            </a:endParaRPr>
          </a:p>
          <a:p>
            <a:pPr marL="457200" indent="-456840">
              <a:lnSpc>
                <a:spcPts val="2177"/>
              </a:lnSpc>
              <a:buClr>
                <a:srgbClr val="3b3535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3b3535"/>
                </a:solidFill>
                <a:latin typeface="Sora"/>
                <a:ea typeface="Sora"/>
              </a:rPr>
              <a:t>Design a real time alert system to notify registered contacts in emergency situations.</a:t>
            </a:r>
            <a:endParaRPr b="0" lang="en-GB" sz="28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8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800" spc="-1" strike="noStrike">
              <a:latin typeface="Arial"/>
            </a:endParaRPr>
          </a:p>
          <a:p>
            <a:pPr marL="457200" indent="-456840">
              <a:lnSpc>
                <a:spcPts val="2177"/>
              </a:lnSpc>
              <a:buClr>
                <a:srgbClr val="3b3535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3b3535"/>
                </a:solidFill>
                <a:latin typeface="Sora"/>
                <a:ea typeface="Sora"/>
              </a:rPr>
              <a:t>Ensure the system is hardware independent and can operate on various devices. 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64" name="CustomShape 5"/>
          <p:cNvSpPr/>
          <p:nvPr/>
        </p:nvSpPr>
        <p:spPr>
          <a:xfrm>
            <a:off x="745560" y="4123800"/>
            <a:ext cx="106920" cy="27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CustomShape 6"/>
          <p:cNvSpPr/>
          <p:nvPr/>
        </p:nvSpPr>
        <p:spPr>
          <a:xfrm>
            <a:off x="604800" y="2945880"/>
            <a:ext cx="3643200" cy="57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CustomShape 7"/>
          <p:cNvSpPr/>
          <p:nvPr/>
        </p:nvSpPr>
        <p:spPr>
          <a:xfrm>
            <a:off x="604800" y="3575520"/>
            <a:ext cx="8916120" cy="82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CustomShape 8"/>
          <p:cNvSpPr/>
          <p:nvPr/>
        </p:nvSpPr>
        <p:spPr>
          <a:xfrm>
            <a:off x="717840" y="5432040"/>
            <a:ext cx="162360" cy="27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CustomShape 9"/>
          <p:cNvSpPr/>
          <p:nvPr/>
        </p:nvSpPr>
        <p:spPr>
          <a:xfrm>
            <a:off x="604800" y="4545720"/>
            <a:ext cx="3297240" cy="37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CustomShape 10"/>
          <p:cNvSpPr/>
          <p:nvPr/>
        </p:nvSpPr>
        <p:spPr>
          <a:xfrm>
            <a:off x="604800" y="5065200"/>
            <a:ext cx="9177480" cy="1249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CustomShape 11"/>
          <p:cNvSpPr/>
          <p:nvPr/>
        </p:nvSpPr>
        <p:spPr>
          <a:xfrm>
            <a:off x="717480" y="6739920"/>
            <a:ext cx="162720" cy="27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CustomShape 12"/>
          <p:cNvSpPr/>
          <p:nvPr/>
        </p:nvSpPr>
        <p:spPr>
          <a:xfrm>
            <a:off x="604800" y="6086520"/>
            <a:ext cx="2913840" cy="87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CustomShape 13"/>
          <p:cNvSpPr/>
          <p:nvPr/>
        </p:nvSpPr>
        <p:spPr>
          <a:xfrm>
            <a:off x="604800" y="6681960"/>
            <a:ext cx="8916120" cy="94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ustom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CustomShape 2"/>
          <p:cNvSpPr/>
          <p:nvPr/>
        </p:nvSpPr>
        <p:spPr>
          <a:xfrm>
            <a:off x="-55440" y="0"/>
            <a:ext cx="14630040" cy="822924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CustomShape 3"/>
          <p:cNvSpPr/>
          <p:nvPr/>
        </p:nvSpPr>
        <p:spPr>
          <a:xfrm>
            <a:off x="805680" y="479880"/>
            <a:ext cx="13018320" cy="956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5964"/>
              </a:lnSpc>
            </a:pPr>
            <a:r>
              <a:rPr b="1" lang="en-GB" sz="4770" spc="-1" strike="noStrike">
                <a:solidFill>
                  <a:srgbClr val="1f1e1e"/>
                </a:solidFill>
                <a:latin typeface="Alexandria"/>
                <a:ea typeface="Alexandria"/>
              </a:rPr>
              <a:t>EXISTING SYSTEM</a:t>
            </a:r>
            <a:endParaRPr b="0" lang="en-GB" sz="4770" spc="-1" strike="noStrike">
              <a:latin typeface="Arial"/>
            </a:endParaRPr>
          </a:p>
          <a:p>
            <a:pPr>
              <a:lnSpc>
                <a:spcPts val="5964"/>
              </a:lnSpc>
            </a:pPr>
            <a:endParaRPr b="0" lang="en-GB" sz="4770" spc="-1" strike="noStrike">
              <a:latin typeface="Arial"/>
            </a:endParaRPr>
          </a:p>
        </p:txBody>
      </p:sp>
      <p:sp>
        <p:nvSpPr>
          <p:cNvPr id="76" name="CustomShape 4"/>
          <p:cNvSpPr/>
          <p:nvPr/>
        </p:nvSpPr>
        <p:spPr>
          <a:xfrm>
            <a:off x="805680" y="2027520"/>
            <a:ext cx="12052440" cy="5363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900"/>
              </a:lnSpc>
            </a:pPr>
            <a:r>
              <a:rPr b="0" lang="en-GB" sz="4800" spc="-1" strike="noStrike">
                <a:solidFill>
                  <a:srgbClr val="000000"/>
                </a:solidFill>
                <a:latin typeface="Calibri"/>
              </a:rPr>
              <a:t>Hardware-Based Approach :</a:t>
            </a:r>
            <a:endParaRPr b="0" lang="en-GB" sz="4800" spc="-1" strike="noStrike">
              <a:latin typeface="Arial"/>
            </a:endParaRPr>
          </a:p>
          <a:p>
            <a:pPr>
              <a:lnSpc>
                <a:spcPts val="2900"/>
              </a:lnSpc>
            </a:pPr>
            <a:endParaRPr b="0" lang="en-GB" sz="4800" spc="-1" strike="noStrike">
              <a:latin typeface="Arial"/>
            </a:endParaRPr>
          </a:p>
          <a:p>
            <a:pPr>
              <a:lnSpc>
                <a:spcPts val="2900"/>
              </a:lnSpc>
            </a:pPr>
            <a:endParaRPr b="0" lang="en-GB" sz="4800" spc="-1" strike="noStrike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A previous research project developed a hardware based system that included a camera, sound sensor, GPS, and GSM module.</a:t>
            </a: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800" spc="-1" strike="noStrike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This system relied on a wearable device to detect screams and send alerts to emergency services.</a:t>
            </a:r>
            <a:endParaRPr b="0" lang="en-GB" sz="2800" spc="-1" strike="noStrike">
              <a:latin typeface="Arial"/>
            </a:endParaRPr>
          </a:p>
          <a:p>
            <a:pPr>
              <a:lnSpc>
                <a:spcPts val="2900"/>
              </a:lnSpc>
            </a:pPr>
            <a:endParaRPr b="0" lang="en-GB" sz="2800" spc="-1" strike="noStrike">
              <a:latin typeface="Arial"/>
            </a:endParaRPr>
          </a:p>
        </p:txBody>
      </p:sp>
      <p:sp>
        <p:nvSpPr>
          <p:cNvPr id="77" name="CustomShape 5"/>
          <p:cNvSpPr/>
          <p:nvPr/>
        </p:nvSpPr>
        <p:spPr>
          <a:xfrm>
            <a:off x="805680" y="2830320"/>
            <a:ext cx="3029400" cy="46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CustomShape 6"/>
          <p:cNvSpPr/>
          <p:nvPr/>
        </p:nvSpPr>
        <p:spPr>
          <a:xfrm>
            <a:off x="805680" y="3396240"/>
            <a:ext cx="13142160" cy="870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CustomShape 7"/>
          <p:cNvSpPr/>
          <p:nvPr/>
        </p:nvSpPr>
        <p:spPr>
          <a:xfrm>
            <a:off x="805680" y="4267080"/>
            <a:ext cx="7645680" cy="49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CustomShape 8"/>
          <p:cNvSpPr/>
          <p:nvPr/>
        </p:nvSpPr>
        <p:spPr>
          <a:xfrm>
            <a:off x="820800" y="4789800"/>
            <a:ext cx="13127040" cy="184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CustomShape 9"/>
          <p:cNvSpPr/>
          <p:nvPr/>
        </p:nvSpPr>
        <p:spPr>
          <a:xfrm>
            <a:off x="820800" y="5635800"/>
            <a:ext cx="4244040" cy="59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CustomShape 10"/>
          <p:cNvSpPr/>
          <p:nvPr/>
        </p:nvSpPr>
        <p:spPr>
          <a:xfrm>
            <a:off x="820800" y="6226560"/>
            <a:ext cx="13016880" cy="97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CustomShape 2"/>
          <p:cNvSpPr/>
          <p:nvPr/>
        </p:nvSpPr>
        <p:spPr>
          <a:xfrm>
            <a:off x="117360" y="0"/>
            <a:ext cx="14630040" cy="849168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CustomShape 3"/>
          <p:cNvSpPr/>
          <p:nvPr/>
        </p:nvSpPr>
        <p:spPr>
          <a:xfrm>
            <a:off x="2346480" y="552600"/>
            <a:ext cx="11005560" cy="14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4476"/>
              </a:lnSpc>
            </a:pPr>
            <a:r>
              <a:rPr b="1" lang="en-GB" sz="4000" spc="-1" strike="noStrike">
                <a:solidFill>
                  <a:srgbClr val="1f1e1e"/>
                </a:solidFill>
                <a:latin typeface="Alexandria"/>
                <a:ea typeface="Alexandria"/>
              </a:rPr>
              <a:t>CHALLENGES AND ISSUES IN EXISTING SYSTEM: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2346480" y="2038320"/>
            <a:ext cx="11426040" cy="666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77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1800" spc="-1" strike="noStrike">
              <a:latin typeface="Arial"/>
            </a:endParaRPr>
          </a:p>
          <a:p>
            <a:pPr marL="457200" indent="-456840">
              <a:lnSpc>
                <a:spcPts val="2177"/>
              </a:lnSpc>
              <a:buClr>
                <a:srgbClr val="3b3535"/>
              </a:buClr>
              <a:buFont typeface="StarSymbol"/>
              <a:buAutoNum type="arabicPeriod"/>
            </a:pPr>
            <a:r>
              <a:rPr b="1" lang="en-GB" sz="2400" spc="-1" strike="noStrike">
                <a:solidFill>
                  <a:srgbClr val="3b3535"/>
                </a:solidFill>
                <a:latin typeface="Sora"/>
                <a:ea typeface="Sora"/>
              </a:rPr>
              <a:t>Bulky and Inconvenient:</a:t>
            </a:r>
            <a:endParaRPr b="0" lang="en-GB" sz="24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400" spc="-1" strike="noStrike">
              <a:latin typeface="Arial"/>
            </a:endParaRPr>
          </a:p>
          <a:p>
            <a:pPr>
              <a:lnSpc>
                <a:spcPts val="2177"/>
              </a:lnSpc>
            </a:pPr>
            <a:r>
              <a:rPr b="0" lang="en-GB" sz="2200" spc="-1" strike="noStrike">
                <a:solidFill>
                  <a:srgbClr val="3b3535"/>
                </a:solidFill>
                <a:latin typeface="Sora"/>
                <a:ea typeface="Sora"/>
              </a:rPr>
              <a:t>         </a:t>
            </a:r>
            <a:r>
              <a:rPr b="0" lang="en-GB" sz="2200" spc="-1" strike="noStrike">
                <a:solidFill>
                  <a:srgbClr val="3b3535"/>
                </a:solidFill>
                <a:latin typeface="Sora"/>
                <a:ea typeface="Sora"/>
              </a:rPr>
              <a:t>The hardware-based system was physically large and required users to wear it constantly, making it uncomfortable and impractical for regular, everyday use</a:t>
            </a:r>
            <a:r>
              <a:rPr b="0" lang="en-GB" sz="2000" spc="-1" strike="noStrike">
                <a:solidFill>
                  <a:srgbClr val="3b3535"/>
                </a:solidFill>
                <a:latin typeface="Sora"/>
                <a:ea typeface="Sora"/>
              </a:rPr>
              <a:t>.</a:t>
            </a:r>
            <a:endParaRPr b="0" lang="en-GB" sz="20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0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0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000" spc="-1" strike="noStrike">
              <a:latin typeface="Arial"/>
            </a:endParaRPr>
          </a:p>
          <a:p>
            <a:pPr>
              <a:lnSpc>
                <a:spcPts val="2177"/>
              </a:lnSpc>
            </a:pPr>
            <a:r>
              <a:rPr b="0" lang="en-GB" sz="2000" spc="-1" strike="noStrike">
                <a:solidFill>
                  <a:srgbClr val="3b3535"/>
                </a:solidFill>
                <a:latin typeface="Sora"/>
                <a:ea typeface="Sora"/>
              </a:rPr>
              <a:t>2. </a:t>
            </a:r>
            <a:r>
              <a:rPr b="1" lang="en-GB" sz="2400" spc="-1" strike="noStrike">
                <a:solidFill>
                  <a:srgbClr val="3b3535"/>
                </a:solidFill>
                <a:latin typeface="Sora"/>
                <a:ea typeface="Sora"/>
              </a:rPr>
              <a:t>Limited Scalability:</a:t>
            </a:r>
            <a:endParaRPr b="0" lang="en-GB" sz="24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400" spc="-1" strike="noStrike">
              <a:latin typeface="Arial"/>
            </a:endParaRPr>
          </a:p>
          <a:p>
            <a:pPr>
              <a:lnSpc>
                <a:spcPts val="2177"/>
              </a:lnSpc>
            </a:pPr>
            <a:r>
              <a:rPr b="0" lang="en-GB" sz="2200" spc="-1" strike="noStrike">
                <a:solidFill>
                  <a:srgbClr val="3b3535"/>
                </a:solidFill>
                <a:latin typeface="Sora"/>
                <a:ea typeface="Sora"/>
              </a:rPr>
              <a:t>         </a:t>
            </a:r>
            <a:r>
              <a:rPr b="0" lang="en-GB" sz="2200" spc="-1" strike="noStrike">
                <a:solidFill>
                  <a:srgbClr val="3b3535"/>
                </a:solidFill>
                <a:latin typeface="Sora"/>
                <a:ea typeface="Sora"/>
              </a:rPr>
              <a:t>The reliance on physical hardware components meant that it was difficult to expand or scale the system, restricting its potential to be adapted for different or larger applications.</a:t>
            </a:r>
            <a:endParaRPr b="0" lang="en-GB" sz="22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2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200" spc="-1" strike="noStrike">
              <a:latin typeface="Arial"/>
            </a:endParaRPr>
          </a:p>
          <a:p>
            <a:pPr>
              <a:lnSpc>
                <a:spcPts val="2177"/>
              </a:lnSpc>
            </a:pPr>
            <a:r>
              <a:rPr b="0" lang="en-GB" sz="2000" spc="-1" strike="noStrike">
                <a:solidFill>
                  <a:srgbClr val="3b3535"/>
                </a:solidFill>
                <a:latin typeface="Sora"/>
                <a:ea typeface="Sora"/>
              </a:rPr>
              <a:t>3. </a:t>
            </a:r>
            <a:r>
              <a:rPr b="1" lang="en-GB" sz="2400" spc="-1" strike="noStrike">
                <a:solidFill>
                  <a:srgbClr val="3b3535"/>
                </a:solidFill>
                <a:latin typeface="Sora"/>
                <a:ea typeface="Sora"/>
              </a:rPr>
              <a:t>Accessibility Issues:</a:t>
            </a:r>
            <a:endParaRPr b="0" lang="en-GB" sz="24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400" spc="-1" strike="noStrike">
              <a:latin typeface="Arial"/>
            </a:endParaRPr>
          </a:p>
          <a:p>
            <a:pPr>
              <a:lnSpc>
                <a:spcPts val="2177"/>
              </a:lnSpc>
            </a:pPr>
            <a:r>
              <a:rPr b="0" lang="en-GB" sz="2200" spc="-1" strike="noStrike">
                <a:solidFill>
                  <a:srgbClr val="3b3535"/>
                </a:solidFill>
                <a:latin typeface="Sora"/>
                <a:ea typeface="Sora"/>
              </a:rPr>
              <a:t>        </a:t>
            </a:r>
            <a:r>
              <a:rPr b="0" lang="en-GB" sz="2200" spc="-1" strike="noStrike">
                <a:solidFill>
                  <a:srgbClr val="3b3535"/>
                </a:solidFill>
                <a:latin typeface="Sora"/>
                <a:ea typeface="Sora"/>
              </a:rPr>
              <a:t>Because of its dependency on hardware, the system was less accessible to a wider audience, as it couldn't easily be distributed or used by people without access to the necessary equipment</a:t>
            </a:r>
            <a:r>
              <a:rPr b="0" lang="en-GB" sz="2000" spc="-1" strike="noStrike">
                <a:solidFill>
                  <a:srgbClr val="3b3535"/>
                </a:solidFill>
                <a:latin typeface="Sora"/>
                <a:ea typeface="Sora"/>
              </a:rPr>
              <a:t>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87" name="CustomShape 5"/>
          <p:cNvSpPr/>
          <p:nvPr/>
        </p:nvSpPr>
        <p:spPr>
          <a:xfrm>
            <a:off x="2346480" y="3222000"/>
            <a:ext cx="2453760" cy="46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CustomShape 6"/>
          <p:cNvSpPr/>
          <p:nvPr/>
        </p:nvSpPr>
        <p:spPr>
          <a:xfrm>
            <a:off x="2346480" y="3584880"/>
            <a:ext cx="12283560" cy="100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CustomShape 7"/>
          <p:cNvSpPr/>
          <p:nvPr/>
        </p:nvSpPr>
        <p:spPr>
          <a:xfrm>
            <a:off x="2346480" y="4723920"/>
            <a:ext cx="11688480" cy="51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CustomShape 8"/>
          <p:cNvSpPr/>
          <p:nvPr/>
        </p:nvSpPr>
        <p:spPr>
          <a:xfrm>
            <a:off x="2346480" y="5167080"/>
            <a:ext cx="12283560" cy="85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CustomShape 9"/>
          <p:cNvSpPr/>
          <p:nvPr/>
        </p:nvSpPr>
        <p:spPr>
          <a:xfrm>
            <a:off x="2346480" y="6241320"/>
            <a:ext cx="9488160" cy="36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CustomShape 10"/>
          <p:cNvSpPr/>
          <p:nvPr/>
        </p:nvSpPr>
        <p:spPr>
          <a:xfrm>
            <a:off x="2346480" y="6603840"/>
            <a:ext cx="12283560" cy="955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CustomShape 2"/>
          <p:cNvSpPr/>
          <p:nvPr/>
        </p:nvSpPr>
        <p:spPr>
          <a:xfrm>
            <a:off x="0" y="0"/>
            <a:ext cx="14630040" cy="926172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CustomShape 3"/>
          <p:cNvSpPr/>
          <p:nvPr/>
        </p:nvSpPr>
        <p:spPr>
          <a:xfrm>
            <a:off x="2346480" y="881280"/>
            <a:ext cx="9936720" cy="189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4476"/>
              </a:lnSpc>
            </a:pPr>
            <a:r>
              <a:rPr b="1" lang="en-GB" sz="3579" spc="-1" strike="noStrike">
                <a:solidFill>
                  <a:srgbClr val="1f1e1e"/>
                </a:solidFill>
                <a:latin typeface="Alexandria"/>
                <a:ea typeface="Alexandria"/>
              </a:rPr>
              <a:t>PROPOSED SYSTEM: </a:t>
            </a:r>
            <a:endParaRPr b="0" lang="en-GB" sz="3579" spc="-1" strike="noStrike">
              <a:latin typeface="Arial"/>
            </a:endParaRPr>
          </a:p>
        </p:txBody>
      </p:sp>
      <p:sp>
        <p:nvSpPr>
          <p:cNvPr id="96" name="CustomShape 4"/>
          <p:cNvSpPr/>
          <p:nvPr/>
        </p:nvSpPr>
        <p:spPr>
          <a:xfrm>
            <a:off x="2346480" y="2322360"/>
            <a:ext cx="12283560" cy="165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CustomShape 5"/>
          <p:cNvSpPr/>
          <p:nvPr/>
        </p:nvSpPr>
        <p:spPr>
          <a:xfrm>
            <a:off x="2346480" y="3784320"/>
            <a:ext cx="2572560" cy="43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CustomShape 6"/>
          <p:cNvSpPr/>
          <p:nvPr/>
        </p:nvSpPr>
        <p:spPr>
          <a:xfrm>
            <a:off x="2346480" y="4220640"/>
            <a:ext cx="12283560" cy="12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CustomShape 7"/>
          <p:cNvSpPr/>
          <p:nvPr/>
        </p:nvSpPr>
        <p:spPr>
          <a:xfrm>
            <a:off x="2346480" y="5645520"/>
            <a:ext cx="6451560" cy="928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CustomShape 8"/>
          <p:cNvSpPr/>
          <p:nvPr/>
        </p:nvSpPr>
        <p:spPr>
          <a:xfrm>
            <a:off x="2346480" y="6035040"/>
            <a:ext cx="12283560" cy="75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CustomShape 9"/>
          <p:cNvSpPr/>
          <p:nvPr/>
        </p:nvSpPr>
        <p:spPr>
          <a:xfrm>
            <a:off x="2346480" y="7178040"/>
            <a:ext cx="9116280" cy="35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CustomShape 10"/>
          <p:cNvSpPr/>
          <p:nvPr/>
        </p:nvSpPr>
        <p:spPr>
          <a:xfrm>
            <a:off x="2346480" y="2322360"/>
            <a:ext cx="11178360" cy="615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Sora"/>
              </a:rPr>
              <a:t>1.Audio Signal Acquisition :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400" spc="-1" strike="noStrike">
                <a:solidFill>
                  <a:srgbClr val="000000"/>
                </a:solidFill>
                <a:latin typeface="Sora"/>
              </a:rPr>
              <a:t>The system utilizes the default microphone configuration of a smartphone to acquire live audio signals from the victim's surroundings</a:t>
            </a:r>
            <a:r>
              <a:rPr b="0" lang="en-GB" sz="2000" spc="-1" strike="noStrike">
                <a:solidFill>
                  <a:srgbClr val="000000"/>
                </a:solidFill>
                <a:latin typeface="Sora"/>
              </a:rPr>
              <a:t>.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Sora"/>
              </a:rPr>
              <a:t>2 Audio Analysis and Classification :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200" spc="-1" strike="noStrike">
                <a:solidFill>
                  <a:srgbClr val="000000"/>
                </a:solidFill>
                <a:latin typeface="Sora"/>
              </a:rPr>
              <a:t>The acquired audio signals are analyzed and classified using deep learning models, specifically LSTM,1D-CNN, and 2D-CNN, to identify potentially dangerous events.</a:t>
            </a:r>
            <a:endParaRPr b="0" lang="en-GB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Sora"/>
              </a:rPr>
              <a:t>3 Alert Notification : 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200" spc="-1" strike="noStrike">
                <a:solidFill>
                  <a:srgbClr val="000000"/>
                </a:solidFill>
                <a:latin typeface="Sora"/>
              </a:rPr>
              <a:t>Upon detection of a dangerous event, the system automatically sends alert messages to the victim's registered contacts via email, SMS, and WhatsApp, including the recorded audio as evidence.</a:t>
            </a:r>
            <a:endParaRPr b="0" lang="en-GB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CustomShape 2"/>
          <p:cNvSpPr/>
          <p:nvPr/>
        </p:nvSpPr>
        <p:spPr>
          <a:xfrm>
            <a:off x="0" y="0"/>
            <a:ext cx="14630040" cy="958752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CustomShape 3"/>
          <p:cNvSpPr/>
          <p:nvPr/>
        </p:nvSpPr>
        <p:spPr>
          <a:xfrm>
            <a:off x="2629080" y="475200"/>
            <a:ext cx="8743680" cy="1136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4476"/>
              </a:lnSpc>
            </a:pPr>
            <a:r>
              <a:rPr b="1" lang="en-GB" sz="3579" spc="-1" strike="noStrike">
                <a:solidFill>
                  <a:srgbClr val="1f1e1e"/>
                </a:solidFill>
                <a:latin typeface="Alexandria"/>
                <a:ea typeface="Alexandria"/>
              </a:rPr>
              <a:t>FLOW DIAGRAM</a:t>
            </a:r>
            <a:endParaRPr b="0" lang="en-GB" sz="3579" spc="-1" strike="noStrike">
              <a:latin typeface="Arial"/>
            </a:endParaRPr>
          </a:p>
        </p:txBody>
      </p:sp>
      <p:sp>
        <p:nvSpPr>
          <p:cNvPr id="106" name="CustomShape 4"/>
          <p:cNvSpPr/>
          <p:nvPr/>
        </p:nvSpPr>
        <p:spPr>
          <a:xfrm>
            <a:off x="6091200" y="1871280"/>
            <a:ext cx="7934040" cy="1105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CustomShape 5"/>
          <p:cNvSpPr/>
          <p:nvPr/>
        </p:nvSpPr>
        <p:spPr>
          <a:xfrm>
            <a:off x="6296760" y="3424320"/>
            <a:ext cx="106920" cy="27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CustomShape 6"/>
          <p:cNvSpPr/>
          <p:nvPr/>
        </p:nvSpPr>
        <p:spPr>
          <a:xfrm>
            <a:off x="7300800" y="3344760"/>
            <a:ext cx="2273400" cy="28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CustomShape 7"/>
          <p:cNvSpPr/>
          <p:nvPr/>
        </p:nvSpPr>
        <p:spPr>
          <a:xfrm>
            <a:off x="7300800" y="3732480"/>
            <a:ext cx="6724440" cy="55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CustomShape 8"/>
          <p:cNvSpPr/>
          <p:nvPr/>
        </p:nvSpPr>
        <p:spPr>
          <a:xfrm>
            <a:off x="6269040" y="4883400"/>
            <a:ext cx="162360" cy="27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CustomShape 9"/>
          <p:cNvSpPr/>
          <p:nvPr/>
        </p:nvSpPr>
        <p:spPr>
          <a:xfrm>
            <a:off x="7300800" y="4804200"/>
            <a:ext cx="2273400" cy="28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CustomShape 10"/>
          <p:cNvSpPr/>
          <p:nvPr/>
        </p:nvSpPr>
        <p:spPr>
          <a:xfrm>
            <a:off x="7300800" y="5191920"/>
            <a:ext cx="6724440" cy="55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CustomShape 11"/>
          <p:cNvSpPr/>
          <p:nvPr/>
        </p:nvSpPr>
        <p:spPr>
          <a:xfrm>
            <a:off x="6268680" y="6342840"/>
            <a:ext cx="162720" cy="27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CustomShape 12"/>
          <p:cNvSpPr/>
          <p:nvPr/>
        </p:nvSpPr>
        <p:spPr>
          <a:xfrm>
            <a:off x="7300800" y="6263280"/>
            <a:ext cx="2273400" cy="28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CustomShape 13"/>
          <p:cNvSpPr/>
          <p:nvPr/>
        </p:nvSpPr>
        <p:spPr>
          <a:xfrm>
            <a:off x="7300800" y="6651000"/>
            <a:ext cx="6724440" cy="829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CustomShape 14"/>
          <p:cNvSpPr/>
          <p:nvPr/>
        </p:nvSpPr>
        <p:spPr>
          <a:xfrm>
            <a:off x="6267960" y="8078400"/>
            <a:ext cx="164160" cy="27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CustomShape 15"/>
          <p:cNvSpPr/>
          <p:nvPr/>
        </p:nvSpPr>
        <p:spPr>
          <a:xfrm>
            <a:off x="7300800" y="7999200"/>
            <a:ext cx="2273400" cy="28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CustomShape 16"/>
          <p:cNvSpPr/>
          <p:nvPr/>
        </p:nvSpPr>
        <p:spPr>
          <a:xfrm>
            <a:off x="7300800" y="8386920"/>
            <a:ext cx="6724440" cy="55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9" name="Picture 29" descr=""/>
          <p:cNvPicPr/>
          <p:nvPr/>
        </p:nvPicPr>
        <p:blipFill>
          <a:blip r:embed="rId1"/>
          <a:stretch/>
        </p:blipFill>
        <p:spPr>
          <a:xfrm>
            <a:off x="2629080" y="1612080"/>
            <a:ext cx="7791120" cy="79754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0" y="1209960"/>
            <a:ext cx="5781600" cy="228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GB" sz="2400" spc="-1" strike="noStrike">
                <a:solidFill>
                  <a:srgbClr val="505468"/>
                </a:solidFill>
                <a:latin typeface="Instrument Sans"/>
                <a:ea typeface="Instrument Sans"/>
              </a:rPr>
              <a:t>MODULE DESCRIPTION:</a:t>
            </a:r>
            <a:endParaRPr b="0" lang="en-GB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GB" sz="2400" spc="-1" strike="noStrike">
                <a:solidFill>
                  <a:srgbClr val="505468"/>
                </a:solidFill>
                <a:latin typeface="Instrument Sans"/>
                <a:ea typeface="Instrument Sans"/>
              </a:rPr>
              <a:t>1.Preprocessing:</a:t>
            </a:r>
            <a:endParaRPr b="0" lang="en-GB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2400" spc="-1" strike="noStrike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1688040" y="2476080"/>
            <a:ext cx="11143800" cy="441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br/>
            <a:r>
              <a:rPr b="1" lang="en-GB" sz="2200" spc="-1" strike="noStrike">
                <a:solidFill>
                  <a:srgbClr val="000000"/>
                </a:solidFill>
                <a:latin typeface="Calibri"/>
              </a:rPr>
              <a:t>MFCC Feature Extraction: 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 </a:t>
            </a:r>
            <a:br/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   </a:t>
            </a: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Extracted MFCC features from audio files using `librosa`, dynamically adjusting parameters to capture key sound characteristics.</a:t>
            </a:r>
            <a:br/>
            <a:br/>
            <a:r>
              <a:rPr b="1" lang="en-GB" sz="2200" spc="-1" strike="noStrike">
                <a:solidFill>
                  <a:srgbClr val="000000"/>
                </a:solidFill>
                <a:latin typeface="Calibri"/>
              </a:rPr>
              <a:t>Dataset Preparation: </a:t>
            </a:r>
            <a:r>
              <a:rPr b="0" lang="en-GB" sz="2200" spc="-1" strike="noStrike">
                <a:solidFill>
                  <a:srgbClr val="000000"/>
                </a:solidFill>
                <a:latin typeface="Calibri"/>
              </a:rPr>
              <a:t> </a:t>
            </a:r>
            <a:br/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   </a:t>
            </a: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Split data into features (MFCCs) and labels (classID), with one-hot encoding for classification tasks.</a:t>
            </a:r>
            <a:br/>
            <a:br/>
            <a:r>
              <a:rPr b="1" lang="en-GB" sz="2200" spc="-1" strike="noStrike">
                <a:solidFill>
                  <a:srgbClr val="000000"/>
                </a:solidFill>
                <a:latin typeface="Calibri"/>
              </a:rPr>
              <a:t>Data Splitting:  </a:t>
            </a:r>
            <a:br/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   </a:t>
            </a: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Used `train_test_split` to divide data into 80% training and 20% testing sets for model evaluation.</a:t>
            </a:r>
            <a:br/>
            <a:br/>
            <a:r>
              <a:rPr b="1" lang="en-GB" sz="2200" spc="-1" strike="noStrike">
                <a:solidFill>
                  <a:srgbClr val="000000"/>
                </a:solidFill>
                <a:latin typeface="Calibri"/>
              </a:rPr>
              <a:t>Data Reshaping for Models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:  </a:t>
            </a:r>
            <a:br/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   - </a:t>
            </a: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Reshaped data for 1D CNN (temporal features) and 2D CNN (time-frequency features), ensuring compatibility with neural networks.</a:t>
            </a:r>
            <a:endParaRPr b="0" lang="en-GB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506520" y="787680"/>
            <a:ext cx="855720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600" spc="-1" strike="noStrike">
                <a:solidFill>
                  <a:srgbClr val="000000"/>
                </a:solidFill>
                <a:latin typeface="Sora"/>
              </a:rPr>
              <a:t>        </a:t>
            </a:r>
            <a:r>
              <a:rPr b="1" lang="en-GB" sz="2600" spc="-1" strike="noStrike">
                <a:solidFill>
                  <a:srgbClr val="000000"/>
                </a:solidFill>
                <a:latin typeface="Sora"/>
              </a:rPr>
              <a:t>2.Audio Recording Module </a:t>
            </a:r>
            <a:r>
              <a:rPr b="1" lang="en-GB" sz="1800" spc="-1" strike="noStrike">
                <a:solidFill>
                  <a:srgbClr val="000000"/>
                </a:solidFill>
                <a:latin typeface="Sora"/>
              </a:rPr>
              <a:t>: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1160640" y="1806480"/>
            <a:ext cx="12871440" cy="475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Audio Capture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*Smartphone's microphone records ambient sound in real-time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*Audio is captured in small frames for immediate processing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*Sampling rate and bit depth determine audio quality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Noise Reduction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*Removes background noise (e.g., wind, static)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*Enhances clarity of the main audio signal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Normalization  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*Adjusts audio volume to a consistent level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*Prevents quiet or overly loud sounds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*Ensures uniform audio quality for further processing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1382040" y="872280"/>
            <a:ext cx="5108400" cy="79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800" spc="-1" strike="noStrike">
                <a:solidFill>
                  <a:srgbClr val="000000"/>
                </a:solidFill>
                <a:latin typeface="Sora"/>
              </a:rPr>
              <a:t>3.Audio Analysis Module </a:t>
            </a:r>
            <a:r>
              <a:rPr b="1" lang="en-GB" sz="1800" spc="-1" strike="noStrike">
                <a:solidFill>
                  <a:srgbClr val="000000"/>
                </a:solidFill>
                <a:latin typeface="Sora"/>
              </a:rPr>
              <a:t>: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1942560" y="2091240"/>
            <a:ext cx="8576640" cy="371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Calibri"/>
              </a:rPr>
              <a:t>Deep Learning-based Audio Analysis  </a:t>
            </a:r>
            <a:endParaRPr b="0" lang="en-GB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Utilizes preprocessed audio signals for analysis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Applies deep learning models (e.g., CNN, LSTM) to extract features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Calibri"/>
              </a:rPr>
              <a:t>Sound Event Classification- Classifies audio into predefined categories  </a:t>
            </a:r>
            <a:endParaRPr b="0" lang="en-GB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Categories include everyday sounds and potential threats (e.g., alarms, screams)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Calibri"/>
              </a:rPr>
              <a:t>Threat Detection </a:t>
            </a:r>
            <a:endParaRPr b="0" lang="en-GB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Identifies suspicious or dangerous sound patterns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Triggers alerts for real-time response based on detected threats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930240" y="956520"/>
            <a:ext cx="4882680" cy="73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Sora"/>
              </a:rPr>
              <a:t>4.Alert Notification Module :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400" spc="-1" strike="noStrike"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1238040" y="1981080"/>
            <a:ext cx="13377960" cy="475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Calibri"/>
              </a:rPr>
              <a:t>Automatic Alert Generation</a:t>
            </a:r>
            <a:endParaRPr b="0" lang="en-GB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*Sends alerts to the victim's registered contacts automatically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*Alerts are triggered by the detection of a potential threat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Calibri"/>
              </a:rPr>
              <a:t>Multi-channel Communication</a:t>
            </a:r>
            <a:endParaRPr b="0" lang="en-GB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*Delivers notifications via Email, SMS, and WhatsApp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*Ensures timely and reliable communication across multiple platforms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Calibri"/>
              </a:rPr>
              <a:t>Threat Information and Recorded Audio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  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*Alert messages include details of the detected threat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*Provides the recorded audio as evidence or context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5903280" y="253080"/>
            <a:ext cx="288216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LITERATURE REVIEW:</a:t>
            </a:r>
            <a:endParaRPr b="0" lang="en-GB" sz="2400" spc="-1" strike="noStrike">
              <a:latin typeface="Arial"/>
            </a:endParaRPr>
          </a:p>
        </p:txBody>
      </p:sp>
      <p:graphicFrame>
        <p:nvGraphicFramePr>
          <p:cNvPr id="129" name="Table 2"/>
          <p:cNvGraphicFramePr/>
          <p:nvPr/>
        </p:nvGraphicFramePr>
        <p:xfrm>
          <a:off x="886320" y="1111320"/>
          <a:ext cx="13547880" cy="6864840"/>
        </p:xfrm>
        <a:graphic>
          <a:graphicData uri="http://schemas.openxmlformats.org/drawingml/2006/table">
            <a:tbl>
              <a:tblPr/>
              <a:tblGrid>
                <a:gridCol w="901800"/>
                <a:gridCol w="2968560"/>
                <a:gridCol w="941400"/>
                <a:gridCol w="1982160"/>
                <a:gridCol w="1903680"/>
                <a:gridCol w="2913840"/>
                <a:gridCol w="1936440"/>
              </a:tblGrid>
              <a:tr h="8323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S. No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            </a:t>
                      </a: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Paper Title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Year of 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Publish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           </a:t>
                      </a: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Author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       </a:t>
                      </a: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       </a:t>
                      </a: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Merits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     </a:t>
                      </a: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Demerits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</a:tr>
              <a:tr h="182844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   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Urban Noise Recognition with Convolutional Neural Network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2019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Jiuwen Cao,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Min Cao,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Jianzhong Wang 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CNN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*Better Time-Frequency Representation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*No Need for DCT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*Human Perception-Based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*High Dimensionality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*Sensitive to Noise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*Data-Intensive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14634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 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  </a:t>
                      </a: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Improving smart cities safety using sound events detection based on deep neural networks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2020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Giuseppe Ciaburro,Gino lannace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CNN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*Effectively detects UAV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*Enhance smart city surveillance and security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*Limited to UAV detection 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*Struggle in extremely noisy environments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137088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Sentimental Analysis in Non-Fixed length audios 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2021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Maria Teresa ,Oscar Garcia,Carmen benavides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FNN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*flexibility in handling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*High accurancy and aplicability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*potential challenges in processing multilingual data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13698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4.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An Interopable Deep learning Model for Automatic Soun dclasssification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2021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Pablo Zinemanas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SB-CNN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*Interoperability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*Automatic Network refinement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*Higher Complexity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*Smaller benchmark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5903280" y="253080"/>
            <a:ext cx="288216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LITERATURE REVIEW:</a:t>
            </a:r>
            <a:endParaRPr b="0" lang="en-GB" sz="2400" spc="-1" strike="noStrike">
              <a:latin typeface="Arial"/>
            </a:endParaRPr>
          </a:p>
        </p:txBody>
      </p:sp>
      <p:graphicFrame>
        <p:nvGraphicFramePr>
          <p:cNvPr id="131" name="Table 2"/>
          <p:cNvGraphicFramePr/>
          <p:nvPr/>
        </p:nvGraphicFramePr>
        <p:xfrm>
          <a:off x="886320" y="1111320"/>
          <a:ext cx="12894840" cy="6758640"/>
        </p:xfrm>
        <a:graphic>
          <a:graphicData uri="http://schemas.openxmlformats.org/drawingml/2006/table">
            <a:tbl>
              <a:tblPr/>
              <a:tblGrid>
                <a:gridCol w="858600"/>
                <a:gridCol w="2825280"/>
                <a:gridCol w="1105920"/>
                <a:gridCol w="2259360"/>
                <a:gridCol w="1795320"/>
                <a:gridCol w="2207160"/>
                <a:gridCol w="1843200"/>
              </a:tblGrid>
              <a:tr h="7779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S. No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            </a:t>
                      </a: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Paper Title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Year of 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Publish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           </a:t>
                      </a: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Author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       </a:t>
                      </a: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       </a:t>
                      </a: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Merits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     </a:t>
                      </a:r>
                      <a:r>
                        <a:rPr b="1" lang="en-GB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Demerits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</a:tr>
              <a:tr h="168084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5.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Deep learning Based source identification of environmental audio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2023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Krishna presannakumar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LTF-CNN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*Deep learning Framework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*Focus on environmental Sound classsification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*Single method focus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*No-Real-Time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Implementation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17377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6.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 novel image and audio based artificial intelligence service for security applications in autonomous vehicles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2021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Dimitrios Tsiktsiris,Anastasios Vafeiaadis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CNN, Bidirectional LSTM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*Real time detection system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*Using both audio and visual data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*Focus only on security inside vehicles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*Performance may degrade in poor lighting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128124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7.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Sound Classification Based on Multihead Attention and Support Vector Machine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2021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Lei Yang , Hongdong Zhao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SVM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*Parallel Processing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*High Generalization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*Complexity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*Limited Scalability to Large Datasets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128088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8.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Implementation of IOT based real time women safety system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2024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Praveen Bleessington thummalakunta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Hardware based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*Compact size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 marL="285840" indent="-28548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 in sensor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 marL="285840" indent="-28548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Loe power consumption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*cost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*limited I/O pins</a:t>
                      </a: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*memory constrains</a:t>
                      </a:r>
                      <a:endParaRPr b="0" lang="en-GB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626760" y="219600"/>
            <a:ext cx="270468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800" spc="-1" strike="noStrike">
                <a:solidFill>
                  <a:srgbClr val="000000"/>
                </a:solidFill>
                <a:latin typeface="Calibri"/>
              </a:rPr>
              <a:t>PROJECT STATUS: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632880" y="885600"/>
            <a:ext cx="402768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Visualizing the MFCC Features</a:t>
            </a:r>
            <a:r>
              <a:rPr b="1" lang="en-GB" sz="18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GB" sz="1800" spc="-1" strike="noStrike">
              <a:latin typeface="Arial"/>
            </a:endParaRPr>
          </a:p>
        </p:txBody>
      </p:sp>
      <p:pic>
        <p:nvPicPr>
          <p:cNvPr id="134" name="Picture 5" descr=""/>
          <p:cNvPicPr/>
          <p:nvPr/>
        </p:nvPicPr>
        <p:blipFill>
          <a:blip r:embed="rId1"/>
          <a:stretch/>
        </p:blipFill>
        <p:spPr>
          <a:xfrm>
            <a:off x="1371600" y="1489680"/>
            <a:ext cx="11547360" cy="63475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ustomShape 1"/>
          <p:cNvSpPr/>
          <p:nvPr/>
        </p:nvSpPr>
        <p:spPr>
          <a:xfrm>
            <a:off x="494640" y="449280"/>
            <a:ext cx="138060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1D CNN : </a:t>
            </a:r>
            <a:endParaRPr b="0" lang="en-GB" sz="2400" spc="-1" strike="noStrike">
              <a:latin typeface="Arial"/>
            </a:endParaRPr>
          </a:p>
        </p:txBody>
      </p:sp>
      <p:pic>
        <p:nvPicPr>
          <p:cNvPr id="136" name="Picture 3" descr=""/>
          <p:cNvPicPr/>
          <p:nvPr/>
        </p:nvPicPr>
        <p:blipFill>
          <a:blip r:embed="rId1"/>
          <a:stretch/>
        </p:blipFill>
        <p:spPr>
          <a:xfrm>
            <a:off x="360000" y="1909080"/>
            <a:ext cx="6890760" cy="5566320"/>
          </a:xfrm>
          <a:prstGeom prst="rect">
            <a:avLst/>
          </a:prstGeom>
          <a:ln>
            <a:noFill/>
          </a:ln>
        </p:spPr>
      </p:pic>
      <p:sp>
        <p:nvSpPr>
          <p:cNvPr id="137" name="CustomShape 2"/>
          <p:cNvSpPr/>
          <p:nvPr/>
        </p:nvSpPr>
        <p:spPr>
          <a:xfrm>
            <a:off x="510120" y="1179000"/>
            <a:ext cx="137124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Accuracy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GB" sz="1800" spc="-1" strike="noStrike">
              <a:latin typeface="Arial"/>
            </a:endParaRPr>
          </a:p>
        </p:txBody>
      </p:sp>
      <p:pic>
        <p:nvPicPr>
          <p:cNvPr id="138" name="Picture 5" descr=""/>
          <p:cNvPicPr/>
          <p:nvPr/>
        </p:nvPicPr>
        <p:blipFill>
          <a:blip r:embed="rId2"/>
          <a:stretch/>
        </p:blipFill>
        <p:spPr>
          <a:xfrm>
            <a:off x="7863480" y="1909080"/>
            <a:ext cx="6410520" cy="5566320"/>
          </a:xfrm>
          <a:prstGeom prst="rect">
            <a:avLst/>
          </a:prstGeom>
          <a:ln>
            <a:noFill/>
          </a:ln>
        </p:spPr>
      </p:pic>
      <p:sp>
        <p:nvSpPr>
          <p:cNvPr id="139" name="CustomShape 3"/>
          <p:cNvSpPr/>
          <p:nvPr/>
        </p:nvSpPr>
        <p:spPr>
          <a:xfrm>
            <a:off x="7812720" y="1179000"/>
            <a:ext cx="242424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Confusion Matrix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GB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494640" y="449280"/>
            <a:ext cx="138060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2D CNN : 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510120" y="1179000"/>
            <a:ext cx="137124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Accuracy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42" name="CustomShape 3"/>
          <p:cNvSpPr/>
          <p:nvPr/>
        </p:nvSpPr>
        <p:spPr>
          <a:xfrm>
            <a:off x="7812720" y="1179000"/>
            <a:ext cx="242424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Confusion Matrix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GB" sz="1800" spc="-1" strike="noStrike">
              <a:latin typeface="Arial"/>
            </a:endParaRPr>
          </a:p>
        </p:txBody>
      </p:sp>
      <p:pic>
        <p:nvPicPr>
          <p:cNvPr id="143" name="Picture 2" descr=""/>
          <p:cNvPicPr/>
          <p:nvPr/>
        </p:nvPicPr>
        <p:blipFill>
          <a:blip r:embed="rId1"/>
          <a:stretch/>
        </p:blipFill>
        <p:spPr>
          <a:xfrm>
            <a:off x="504360" y="1953000"/>
            <a:ext cx="6638040" cy="5478120"/>
          </a:xfrm>
          <a:prstGeom prst="rect">
            <a:avLst/>
          </a:prstGeom>
          <a:ln>
            <a:noFill/>
          </a:ln>
        </p:spPr>
      </p:pic>
      <p:pic>
        <p:nvPicPr>
          <p:cNvPr id="144" name="Picture 8" descr=""/>
          <p:cNvPicPr/>
          <p:nvPr/>
        </p:nvPicPr>
        <p:blipFill>
          <a:blip r:embed="rId2"/>
          <a:stretch/>
        </p:blipFill>
        <p:spPr>
          <a:xfrm>
            <a:off x="7799400" y="1953000"/>
            <a:ext cx="6028560" cy="5634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ustomShape 1"/>
          <p:cNvSpPr/>
          <p:nvPr/>
        </p:nvSpPr>
        <p:spPr>
          <a:xfrm>
            <a:off x="493560" y="449280"/>
            <a:ext cx="102240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LSTM: 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146" name="CustomShape 2"/>
          <p:cNvSpPr/>
          <p:nvPr/>
        </p:nvSpPr>
        <p:spPr>
          <a:xfrm>
            <a:off x="510120" y="1179000"/>
            <a:ext cx="137124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Accuracy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47" name="CustomShape 3"/>
          <p:cNvSpPr/>
          <p:nvPr/>
        </p:nvSpPr>
        <p:spPr>
          <a:xfrm>
            <a:off x="7812720" y="1179000"/>
            <a:ext cx="242424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Confusion Matrix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GB" sz="1800" spc="-1" strike="noStrike">
              <a:latin typeface="Arial"/>
            </a:endParaRPr>
          </a:p>
        </p:txBody>
      </p:sp>
      <p:pic>
        <p:nvPicPr>
          <p:cNvPr id="148" name="Picture 3" descr=""/>
          <p:cNvPicPr/>
          <p:nvPr/>
        </p:nvPicPr>
        <p:blipFill>
          <a:blip r:embed="rId1"/>
          <a:stretch/>
        </p:blipFill>
        <p:spPr>
          <a:xfrm>
            <a:off x="504360" y="1909080"/>
            <a:ext cx="6473520" cy="5678640"/>
          </a:xfrm>
          <a:prstGeom prst="rect">
            <a:avLst/>
          </a:prstGeom>
          <a:ln>
            <a:noFill/>
          </a:ln>
        </p:spPr>
      </p:pic>
      <p:pic>
        <p:nvPicPr>
          <p:cNvPr id="149" name="Picture 5" descr=""/>
          <p:cNvPicPr/>
          <p:nvPr/>
        </p:nvPicPr>
        <p:blipFill>
          <a:blip r:embed="rId2"/>
          <a:stretch/>
        </p:blipFill>
        <p:spPr>
          <a:xfrm>
            <a:off x="7234920" y="1909080"/>
            <a:ext cx="6865560" cy="5790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ustomShape 1"/>
          <p:cNvSpPr/>
          <p:nvPr/>
        </p:nvSpPr>
        <p:spPr>
          <a:xfrm>
            <a:off x="1172880" y="513360"/>
            <a:ext cx="311184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600" spc="-1" strike="noStrike">
                <a:solidFill>
                  <a:srgbClr val="000000"/>
                </a:solidFill>
                <a:latin typeface="Calibri"/>
              </a:rPr>
              <a:t>AVERAGE ACCURACY:</a:t>
            </a:r>
            <a:endParaRPr b="0" lang="en-GB" sz="2600" spc="-1" strike="noStrike">
              <a:latin typeface="Arial"/>
            </a:endParaRPr>
          </a:p>
        </p:txBody>
      </p:sp>
      <p:pic>
        <p:nvPicPr>
          <p:cNvPr id="151" name="Picture 2" descr=""/>
          <p:cNvPicPr/>
          <p:nvPr/>
        </p:nvPicPr>
        <p:blipFill>
          <a:blip r:embed="rId1"/>
          <a:stretch/>
        </p:blipFill>
        <p:spPr>
          <a:xfrm>
            <a:off x="1770120" y="1716480"/>
            <a:ext cx="9421200" cy="52621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1190160" y="513360"/>
            <a:ext cx="465084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Real-Time Sound Classification</a:t>
            </a:r>
            <a:r>
              <a:rPr b="1" lang="en-GB" sz="26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GB" sz="2600" spc="-1" strike="noStrike">
              <a:latin typeface="Arial"/>
            </a:endParaRPr>
          </a:p>
        </p:txBody>
      </p:sp>
      <p:pic>
        <p:nvPicPr>
          <p:cNvPr id="153" name="Picture 4" descr=""/>
          <p:cNvPicPr/>
          <p:nvPr/>
        </p:nvPicPr>
        <p:blipFill>
          <a:blip r:embed="rId1"/>
          <a:stretch/>
        </p:blipFill>
        <p:spPr>
          <a:xfrm>
            <a:off x="1436760" y="1541520"/>
            <a:ext cx="11973960" cy="61927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1787760" y="498600"/>
            <a:ext cx="12978720" cy="716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GB" sz="3600" spc="-1" strike="noStrike">
                <a:solidFill>
                  <a:srgbClr val="000000"/>
                </a:solidFill>
                <a:latin typeface="Calibri"/>
              </a:rPr>
              <a:t>Tools:</a:t>
            </a:r>
            <a:endParaRPr b="0" lang="en-GB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Machine learning development:</a:t>
            </a:r>
            <a:endParaRPr b="0" lang="en-GB" sz="2800" spc="-1" strike="noStrike">
              <a:latin typeface="Arial"/>
            </a:endParaRPr>
          </a:p>
          <a:p>
            <a:pPr marL="571680" indent="-5713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Vs code</a:t>
            </a:r>
            <a:endParaRPr b="0" lang="en-GB" sz="2800" spc="-1" strike="noStrike">
              <a:latin typeface="Arial"/>
            </a:endParaRPr>
          </a:p>
          <a:p>
            <a:pPr marL="571680" indent="-5713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Python</a:t>
            </a:r>
            <a:endParaRPr b="0" lang="en-GB" sz="2800" spc="-1" strike="noStrike">
              <a:latin typeface="Arial"/>
            </a:endParaRPr>
          </a:p>
          <a:p>
            <a:pPr marL="571680" indent="-5713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TensorflowLite</a:t>
            </a:r>
            <a:endParaRPr b="0" lang="en-GB" sz="2800" spc="-1" strike="noStrike">
              <a:latin typeface="Arial"/>
            </a:endParaRPr>
          </a:p>
          <a:p>
            <a:pPr marL="571680" indent="-5713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Numpy,pandas,Scikit-learn</a:t>
            </a:r>
            <a:endParaRPr b="0" lang="en-GB" sz="2800" spc="-1" strike="noStrike">
              <a:latin typeface="Arial"/>
            </a:endParaRPr>
          </a:p>
          <a:p>
            <a:pPr marL="571680" indent="-5713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Jupyter Notebooks</a:t>
            </a: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Mobile app development:</a:t>
            </a:r>
            <a:endParaRPr b="0" lang="en-GB" sz="2800" spc="-1" strike="noStrike">
              <a:latin typeface="Arial"/>
            </a:endParaRPr>
          </a:p>
          <a:p>
            <a:pPr marL="571680" indent="-5713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Android studio</a:t>
            </a:r>
            <a:endParaRPr b="0" lang="en-GB" sz="2800" spc="-1" strike="noStrike">
              <a:latin typeface="Arial"/>
            </a:endParaRPr>
          </a:p>
          <a:p>
            <a:pPr marL="571680" indent="-5713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Flutter SDK</a:t>
            </a:r>
            <a:endParaRPr b="0" lang="en-GB" sz="2800" spc="-1" strike="noStrike">
              <a:latin typeface="Arial"/>
            </a:endParaRPr>
          </a:p>
          <a:p>
            <a:pPr marL="571680" indent="-5713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Dart programming language</a:t>
            </a: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Testing and Debugging:</a:t>
            </a:r>
            <a:endParaRPr b="0" lang="en-GB" sz="2800" spc="-1" strike="noStrike">
              <a:latin typeface="Arial"/>
            </a:endParaRPr>
          </a:p>
          <a:p>
            <a:pPr marL="571680" indent="-5713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Android emulator</a:t>
            </a:r>
            <a:endParaRPr b="0" lang="en-GB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1186560" y="513360"/>
            <a:ext cx="493308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Safety Solution Interface Preview</a:t>
            </a:r>
            <a:endParaRPr b="0" lang="en-GB" sz="2800" spc="-1" strike="noStrike">
              <a:latin typeface="Arial"/>
            </a:endParaRPr>
          </a:p>
        </p:txBody>
      </p:sp>
      <p:pic>
        <p:nvPicPr>
          <p:cNvPr id="156" name="Picture 8" descr=""/>
          <p:cNvPicPr/>
          <p:nvPr/>
        </p:nvPicPr>
        <p:blipFill>
          <a:blip r:embed="rId1"/>
          <a:stretch/>
        </p:blipFill>
        <p:spPr>
          <a:xfrm>
            <a:off x="1160640" y="1567440"/>
            <a:ext cx="9890280" cy="6542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1160640" y="513360"/>
            <a:ext cx="313668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800" spc="-1" strike="noStrike">
                <a:solidFill>
                  <a:srgbClr val="000000"/>
                </a:solidFill>
                <a:latin typeface="Calibri"/>
              </a:rPr>
              <a:t>LOGIN &amp;REGISTER:</a:t>
            </a:r>
            <a:endParaRPr b="0" lang="en-GB" sz="2800" spc="-1" strike="noStrike">
              <a:latin typeface="Arial"/>
            </a:endParaRPr>
          </a:p>
        </p:txBody>
      </p:sp>
      <p:pic>
        <p:nvPicPr>
          <p:cNvPr id="158" name="Picture 3" descr=""/>
          <p:cNvPicPr/>
          <p:nvPr/>
        </p:nvPicPr>
        <p:blipFill>
          <a:blip r:embed="rId1"/>
          <a:stretch/>
        </p:blipFill>
        <p:spPr>
          <a:xfrm>
            <a:off x="1058040" y="1528200"/>
            <a:ext cx="5525280" cy="6086880"/>
          </a:xfrm>
          <a:prstGeom prst="rect">
            <a:avLst/>
          </a:prstGeom>
          <a:ln>
            <a:noFill/>
          </a:ln>
        </p:spPr>
      </p:pic>
      <p:pic>
        <p:nvPicPr>
          <p:cNvPr id="159" name="Picture 5" descr=""/>
          <p:cNvPicPr/>
          <p:nvPr/>
        </p:nvPicPr>
        <p:blipFill>
          <a:blip r:embed="rId2"/>
          <a:stretch/>
        </p:blipFill>
        <p:spPr>
          <a:xfrm>
            <a:off x="7524360" y="1528200"/>
            <a:ext cx="5930280" cy="59824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718560" y="932040"/>
            <a:ext cx="218772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GB" sz="2600" spc="-1" strike="noStrike">
                <a:solidFill>
                  <a:srgbClr val="000000"/>
                </a:solidFill>
                <a:latin typeface="Calibri"/>
              </a:rPr>
              <a:t>REFERENCE</a:t>
            </a: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1665360" y="5372280"/>
            <a:ext cx="5943240" cy="285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CustomShape 3"/>
          <p:cNvSpPr/>
          <p:nvPr/>
        </p:nvSpPr>
        <p:spPr>
          <a:xfrm>
            <a:off x="718560" y="2022120"/>
            <a:ext cx="12637800" cy="47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563c1"/>
                </a:solidFill>
                <a:latin typeface="Arial"/>
                <a:hlinkClick r:id="rId1"/>
              </a:rPr>
              <a:t>https://www.ijert.org/implementation-of-iot-based-real-time-womens-safety-system-3</a:t>
            </a:r>
            <a:br/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563c1"/>
                </a:solidFill>
                <a:latin typeface="Arial"/>
                <a:hlinkClick r:id="rId2"/>
              </a:rPr>
              <a:t>https://www.mdpi.com/2079-9292/10/7/850</a:t>
            </a:r>
            <a:br/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563c1"/>
                </a:solidFill>
                <a:latin typeface="Arial"/>
                <a:hlinkClick r:id="rId3"/>
              </a:rPr>
              <a:t>https://www.mdpi.com/2227-9709/7/3/23</a:t>
            </a:r>
            <a:br/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563c1"/>
                </a:solidFill>
                <a:latin typeface="Arial"/>
                <a:hlinkClick r:id="rId4"/>
              </a:rPr>
              <a:t>https://www.researchgate.net/publication/326212440_Urban_noise_recognition_with_convolutional_neural_network</a:t>
            </a:r>
            <a:br/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563c1"/>
                </a:solidFill>
                <a:latin typeface="Arial"/>
                <a:hlinkClick r:id="rId5"/>
              </a:rPr>
              <a:t>https://www.researchgate.net/publication/353073417_Sentiment_analysis_in_non-fixed_length_audios_using_a_Fully_Convolutional_Neural_Network</a:t>
            </a:r>
            <a:br/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563c1"/>
                </a:solidFill>
                <a:latin typeface="Arial"/>
                <a:hlinkClick r:id="rId6"/>
              </a:rPr>
              <a:t>https://www.sciencedirect.com/science/article/pii/S2352146522001648</a:t>
            </a:r>
            <a:br/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563c1"/>
                </a:solidFill>
                <a:latin typeface="Arial"/>
                <a:hlinkClick r:id="rId7"/>
              </a:rPr>
              <a:t>https://www.researchgate.net/publication/351429605_Sound_Classification_Based_on_Multihead_Attention_and_Support_Vector_Machine</a:t>
            </a:r>
            <a:br/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563c1"/>
                </a:solidFill>
                <a:latin typeface="Arial"/>
                <a:hlinkClick r:id="rId8"/>
              </a:rPr>
              <a:t>https://www.sciencedirect.com/science/article/abs/pii/S1568494623004416</a:t>
            </a:r>
            <a:endParaRPr b="0" lang="en-GB" sz="1800" spc="-1" strike="noStrike">
              <a:latin typeface="Arial"/>
            </a:endParaRPr>
          </a:p>
        </p:txBody>
      </p:sp>
      <p:pic>
        <p:nvPicPr>
          <p:cNvPr id="163" name="Picture 1" descr=""/>
          <p:cNvPicPr/>
          <p:nvPr/>
        </p:nvPicPr>
        <p:blipFill>
          <a:blip r:embed="rId9"/>
          <a:stretch/>
        </p:blipFill>
        <p:spPr>
          <a:xfrm>
            <a:off x="0" y="0"/>
            <a:ext cx="380520" cy="380520"/>
          </a:xfrm>
          <a:prstGeom prst="rect">
            <a:avLst/>
          </a:prstGeom>
          <a:ln>
            <a:noFill/>
          </a:ln>
        </p:spPr>
      </p:pic>
      <p:pic>
        <p:nvPicPr>
          <p:cNvPr id="164" name="Picture 2" descr=""/>
          <p:cNvPicPr/>
          <p:nvPr/>
        </p:nvPicPr>
        <p:blipFill>
          <a:blip r:embed="rId10"/>
          <a:stretch/>
        </p:blipFill>
        <p:spPr>
          <a:xfrm>
            <a:off x="0" y="0"/>
            <a:ext cx="9000" cy="9000"/>
          </a:xfrm>
          <a:prstGeom prst="rect">
            <a:avLst/>
          </a:prstGeom>
          <a:ln>
            <a:noFill/>
          </a:ln>
        </p:spPr>
      </p:pic>
      <p:pic>
        <p:nvPicPr>
          <p:cNvPr id="165" name="Picture 3" descr=""/>
          <p:cNvPicPr/>
          <p:nvPr/>
        </p:nvPicPr>
        <p:blipFill>
          <a:blip r:embed="rId11"/>
          <a:stretch/>
        </p:blipFill>
        <p:spPr>
          <a:xfrm>
            <a:off x="0" y="0"/>
            <a:ext cx="9000" cy="9000"/>
          </a:xfrm>
          <a:prstGeom prst="rect">
            <a:avLst/>
          </a:prstGeom>
          <a:ln>
            <a:noFill/>
          </a:ln>
        </p:spPr>
      </p:pic>
      <p:pic>
        <p:nvPicPr>
          <p:cNvPr id="166" name="Picture 4" descr=""/>
          <p:cNvPicPr/>
          <p:nvPr/>
        </p:nvPicPr>
        <p:blipFill>
          <a:blip r:embed="rId12"/>
          <a:stretch/>
        </p:blipFill>
        <p:spPr>
          <a:xfrm>
            <a:off x="0" y="0"/>
            <a:ext cx="9000" cy="9000"/>
          </a:xfrm>
          <a:prstGeom prst="rect">
            <a:avLst/>
          </a:prstGeom>
          <a:ln>
            <a:noFill/>
          </a:ln>
        </p:spPr>
      </p:pic>
      <p:pic>
        <p:nvPicPr>
          <p:cNvPr id="167" name="Picture 5" descr=""/>
          <p:cNvPicPr/>
          <p:nvPr/>
        </p:nvPicPr>
        <p:blipFill>
          <a:blip r:embed="rId13"/>
          <a:stretch/>
        </p:blipFill>
        <p:spPr>
          <a:xfrm>
            <a:off x="0" y="0"/>
            <a:ext cx="9000" cy="9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2"/>
          <p:cNvSpPr/>
          <p:nvPr/>
        </p:nvSpPr>
        <p:spPr>
          <a:xfrm>
            <a:off x="-98640" y="0"/>
            <a:ext cx="14728680" cy="979596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CustomShape 3"/>
          <p:cNvSpPr/>
          <p:nvPr/>
        </p:nvSpPr>
        <p:spPr>
          <a:xfrm>
            <a:off x="604800" y="970560"/>
            <a:ext cx="7934040" cy="130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4476"/>
              </a:lnSpc>
            </a:pPr>
            <a:r>
              <a:rPr b="1" lang="en-GB" sz="3579" spc="-1" strike="noStrike">
                <a:solidFill>
                  <a:srgbClr val="1f1e1e"/>
                </a:solidFill>
                <a:latin typeface="Alexandria"/>
                <a:ea typeface="Alexandria"/>
              </a:rPr>
              <a:t>CONCLUSION:</a:t>
            </a:r>
            <a:endParaRPr b="0" lang="en-GB" sz="3579" spc="-1" strike="noStrike">
              <a:latin typeface="Arial"/>
            </a:endParaRPr>
          </a:p>
        </p:txBody>
      </p:sp>
      <p:sp>
        <p:nvSpPr>
          <p:cNvPr id="171" name="CustomShape 4"/>
          <p:cNvSpPr/>
          <p:nvPr/>
        </p:nvSpPr>
        <p:spPr>
          <a:xfrm>
            <a:off x="604800" y="2644920"/>
            <a:ext cx="12885840" cy="1198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CustomShape 5"/>
          <p:cNvSpPr/>
          <p:nvPr/>
        </p:nvSpPr>
        <p:spPr>
          <a:xfrm>
            <a:off x="604800" y="4319280"/>
            <a:ext cx="1402524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CustomShape 6"/>
          <p:cNvSpPr/>
          <p:nvPr/>
        </p:nvSpPr>
        <p:spPr>
          <a:xfrm>
            <a:off x="604800" y="4849200"/>
            <a:ext cx="14025240" cy="80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CustomShape 7"/>
          <p:cNvSpPr/>
          <p:nvPr/>
        </p:nvSpPr>
        <p:spPr>
          <a:xfrm>
            <a:off x="604800" y="5993280"/>
            <a:ext cx="227340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CustomShape 8"/>
          <p:cNvSpPr/>
          <p:nvPr/>
        </p:nvSpPr>
        <p:spPr>
          <a:xfrm>
            <a:off x="604800" y="6468480"/>
            <a:ext cx="14025240" cy="700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CustomShape 9"/>
          <p:cNvSpPr/>
          <p:nvPr/>
        </p:nvSpPr>
        <p:spPr>
          <a:xfrm>
            <a:off x="604800" y="7224480"/>
            <a:ext cx="227340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CustomShape 10"/>
          <p:cNvSpPr/>
          <p:nvPr/>
        </p:nvSpPr>
        <p:spPr>
          <a:xfrm>
            <a:off x="604800" y="1662120"/>
            <a:ext cx="14025240" cy="575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77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ts val="2177"/>
              </a:lnSpc>
            </a:pPr>
            <a:r>
              <a:rPr b="1" lang="en-GB" sz="2400" spc="-1" strike="noStrike">
                <a:solidFill>
                  <a:srgbClr val="3b3535"/>
                </a:solidFill>
                <a:latin typeface="Sora"/>
                <a:ea typeface="Sora"/>
              </a:rPr>
              <a:t>AI-Driven Threat Detection:</a:t>
            </a:r>
            <a:r>
              <a:rPr b="0" lang="en-GB" sz="2000" spc="-1" strike="noStrike">
                <a:solidFill>
                  <a:srgbClr val="3b3535"/>
                </a:solidFill>
                <a:latin typeface="Sora"/>
                <a:ea typeface="Sora"/>
              </a:rPr>
              <a:t>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ts val="2177"/>
              </a:lnSpc>
            </a:pPr>
            <a:r>
              <a:rPr b="0" lang="en-GB" sz="2000" spc="-1" strike="noStrike">
                <a:solidFill>
                  <a:srgbClr val="3b3535"/>
                </a:solidFill>
                <a:latin typeface="Sora"/>
                <a:ea typeface="Sora"/>
              </a:rPr>
              <a:t>   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ts val="2177"/>
              </a:lnSpc>
            </a:pPr>
            <a:r>
              <a:rPr b="0" lang="en-GB" sz="2200" spc="-1" strike="noStrike">
                <a:solidFill>
                  <a:srgbClr val="3b3535"/>
                </a:solidFill>
                <a:latin typeface="Sora"/>
                <a:ea typeface="Sora"/>
              </a:rPr>
              <a:t>The research developed a software-based system that uses NLP and deep learning to identify dangerous situations by analyzing ambient noise, effectively recognizing potential threats.</a:t>
            </a:r>
            <a:endParaRPr b="0" lang="en-GB" sz="22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200" spc="-1" strike="noStrike">
              <a:latin typeface="Arial"/>
            </a:endParaRPr>
          </a:p>
          <a:p>
            <a:pPr>
              <a:lnSpc>
                <a:spcPts val="2177"/>
              </a:lnSpc>
            </a:pPr>
            <a:r>
              <a:rPr b="1" lang="en-GB" sz="2400" spc="-1" strike="noStrike">
                <a:solidFill>
                  <a:srgbClr val="3b3535"/>
                </a:solidFill>
                <a:latin typeface="Sora"/>
                <a:ea typeface="Sora"/>
              </a:rPr>
              <a:t>Automatic Emergency Response: </a:t>
            </a:r>
            <a:endParaRPr b="0" lang="en-GB" sz="24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400" spc="-1" strike="noStrike">
              <a:latin typeface="Arial"/>
            </a:endParaRPr>
          </a:p>
          <a:p>
            <a:pPr>
              <a:lnSpc>
                <a:spcPts val="2177"/>
              </a:lnSpc>
            </a:pPr>
            <a:r>
              <a:rPr b="0" lang="en-GB" sz="2200" spc="-1" strike="noStrike">
                <a:solidFill>
                  <a:srgbClr val="3b3535"/>
                </a:solidFill>
                <a:latin typeface="Sora"/>
                <a:ea typeface="Sora"/>
              </a:rPr>
              <a:t>The system automatically alerts victims' emergency contacts, providing immediate assistance when a threat is detected, enhancing personal safety.</a:t>
            </a:r>
            <a:endParaRPr b="0" lang="en-GB" sz="22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200" spc="-1" strike="noStrike">
              <a:latin typeface="Arial"/>
            </a:endParaRPr>
          </a:p>
          <a:p>
            <a:pPr>
              <a:lnSpc>
                <a:spcPts val="2177"/>
              </a:lnSpc>
            </a:pPr>
            <a:r>
              <a:rPr b="1" lang="en-GB" sz="2400" spc="-1" strike="noStrike">
                <a:solidFill>
                  <a:srgbClr val="3b3535"/>
                </a:solidFill>
                <a:latin typeface="Sora"/>
                <a:ea typeface="Sora"/>
              </a:rPr>
              <a:t>High Accuracy and Effectiveness: </a:t>
            </a:r>
            <a:endParaRPr b="0" lang="en-GB" sz="2400" spc="-1" strike="noStrike">
              <a:latin typeface="Arial"/>
            </a:endParaRPr>
          </a:p>
          <a:p>
            <a:pPr>
              <a:lnSpc>
                <a:spcPts val="2177"/>
              </a:lnSpc>
            </a:pPr>
            <a:endParaRPr b="0" lang="en-GB" sz="2400" spc="-1" strike="noStrike">
              <a:latin typeface="Arial"/>
            </a:endParaRPr>
          </a:p>
          <a:p>
            <a:pPr>
              <a:lnSpc>
                <a:spcPts val="2177"/>
              </a:lnSpc>
            </a:pPr>
            <a:r>
              <a:rPr b="0" lang="en-GB" sz="2200" spc="-1" strike="noStrike">
                <a:solidFill>
                  <a:srgbClr val="3b3535"/>
                </a:solidFill>
                <a:latin typeface="Sora"/>
                <a:ea typeface="Sora"/>
              </a:rPr>
              <a:t>The system demonstrated a strong performance with an average accuracy of 91.00% in classifying audio events, showing its effectiveness in real-world threat identification scenarios.</a:t>
            </a:r>
            <a:endParaRPr b="0" lang="en-GB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605</TotalTime>
  <Application>Trio_Office/6.2.8.2$Windows_x86 LibreOffice_project/</Application>
  <Words>1460</Words>
  <Paragraphs>280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2024-08-20T09:50:48Z</dcterms:created>
  <dc:creator>PptxGenJS</dc:creator>
  <dc:description/>
  <dc:language>en-GB</dc:language>
  <cp:lastModifiedBy/>
  <dcterms:modified xsi:type="dcterms:W3CDTF">2024-12-19T12:08:22Z</dcterms:modified>
  <cp:revision>45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PptxGenJS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9</vt:i4>
  </property>
  <property fmtid="{D5CDD505-2E9C-101B-9397-08002B2CF9AE}" pid="9" name="PresentationFormat">
    <vt:lpwstr>Custom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24</vt:i4>
  </property>
</Properties>
</file>